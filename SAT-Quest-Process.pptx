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2142E"/>
                </a:solidFill>
                <a:latin typeface="Calibri"/>
              </a:rPr>
              <a:t>Built-in questions by SAT domain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spPr>
            <a:solidFill>
              <a:srgbClr val="7C5CFF"/>
            </a:solidFill>
          </c:spPr>
          <c:cat>
            <c:strRef>
              <c:f>Sheet1!$A$2:$A$9</c:f>
              <c:strCache>
                <c:ptCount val="8"/>
                <c:pt idx="0">
                  <c:v>Standard English Conv.</c:v>
                </c:pt>
                <c:pt idx="1">
                  <c:v>Expression of Ideas</c:v>
                </c:pt>
                <c:pt idx="2">
                  <c:v>Craft &amp; Structure</c:v>
                </c:pt>
                <c:pt idx="3">
                  <c:v>Information &amp; Ideas</c:v>
                </c:pt>
                <c:pt idx="4">
                  <c:v>Geometry &amp; Trig</c:v>
                </c:pt>
                <c:pt idx="5">
                  <c:v>Problem-Solving &amp; Data</c:v>
                </c:pt>
                <c:pt idx="6">
                  <c:v>Advanced Math</c:v>
                </c:pt>
                <c:pt idx="7">
                  <c:v>Algebra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</c:v>
                </c:pt>
                <c:pt idx="1">
                  <c:v>4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8</c:v>
                </c:pt>
                <c:pt idx="6">
                  <c:v>8</c:v>
                </c:pt>
                <c:pt idx="7">
                  <c:v>7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solidFill>
                    <a:srgbClr val="3A4166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3A4166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46B88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walkthrough of building SAT Quest: a head-to-head SAT game with live match rooms, four formats, and AI-generated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pivot came mid-build. The study features were not deleted — they became a profile that grows from playing.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Plain HTTP means the same process serves the app locally and deploys unchanged for online play.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was the most important architectural decision — anti-cheat and clock sync fall out of it for free.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verification pass is what makes generated content trustworthy enough to score a competitive match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Worth stating plainly in any demo: every question in the app is original.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lesson: the failures were all in the seams between two machines, not in the game logic.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live region matters most: without it a blind player gets no notification that a round even resolved.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463040"/>
            <a:ext cx="4937760" cy="4937760"/>
          </a:xfrm>
          <a:prstGeom prst="ellipse">
            <a:avLst/>
          </a:prstGeom>
          <a:solidFill>
            <a:srgbClr val="242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881360" y="4114800"/>
            <a:ext cx="2926080" cy="2926080"/>
          </a:xfrm>
          <a:prstGeom prst="ellipse">
            <a:avLst/>
          </a:prstGeom>
          <a:solidFill>
            <a:srgbClr val="18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2D3EE"/>
                </a:solidFill>
                <a:latin typeface="Calibri"/>
              </a:rPr>
              <a:t>SAT QUEST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40280"/>
            <a:ext cx="877824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600"/>
              </a:lnSpc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Cambria"/>
              </a:rPr>
              <a:t>Turning SAT practice</a:t>
            </a:r>
          </a:p>
          <a:p>
            <a:pPr algn="l">
              <a:lnSpc>
                <a:spcPts val="4600"/>
              </a:lnSpc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Cambria"/>
              </a:rPr>
              <a:t>into a game you play</a:t>
            </a:r>
          </a:p>
          <a:p>
            <a:pPr algn="l">
              <a:lnSpc>
                <a:spcPts val="4600"/>
              </a:lnSpc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Cambria"/>
              </a:rPr>
              <a:t>against a friend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00600"/>
            <a:ext cx="8778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B9C0E0"/>
                </a:solidFill>
                <a:latin typeface="Calibri"/>
              </a:rPr>
              <a:t>How it was built — the decisions, the pivot, and what broke along the way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D7490"/>
                </a:solidFill>
                <a:latin typeface="Calibri"/>
              </a:rPr>
              <a:t>THE PIVOT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12142E"/>
                </a:solidFill>
                <a:latin typeface="Cambria"/>
              </a:rPr>
              <a:t>It started as the wrong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3A4166"/>
                </a:solidFill>
                <a:latin typeface="Calibri"/>
              </a:rPr>
              <a:t>The first build was a study dashboard: XP, streaks, weak-spot tracking, a full adaptive practice test. It worked — and it was still homework.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48840"/>
            <a:ext cx="5212080" cy="3291840"/>
          </a:xfrm>
          <a:prstGeom prst="roundRect">
            <a:avLst>
              <a:gd name="adj" fmla="val 9000"/>
            </a:avLst>
          </a:prstGeom>
          <a:solidFill>
            <a:srgbClr val="F4F6FC"/>
          </a:solidFill>
          <a:ln w="12700">
            <a:solidFill>
              <a:srgbClr val="E4E8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32688" y="2441448"/>
            <a:ext cx="46268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142E"/>
                </a:solidFill>
                <a:latin typeface="Calibri"/>
              </a:rPr>
              <a:t>Version 1 — study 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843784"/>
            <a:ext cx="4626864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00"/>
              </a:lnSpc>
              <a:spcAft>
                <a:spcPts val="0"/>
              </a:spcAft>
            </a:pPr>
            <a:r>
              <a:rPr sz="1250" b="0" i="0">
                <a:solidFill>
                  <a:srgbClr val="3A4166"/>
                </a:solidFill>
                <a:latin typeface="Calibri"/>
              </a:rPr>
              <a:t>Solo rounds and drills</a:t>
            </a:r>
          </a:p>
          <a:p>
            <a:pPr algn="l">
              <a:lnSpc>
                <a:spcPts val="1700"/>
              </a:lnSpc>
              <a:spcAft>
                <a:spcPts val="0"/>
              </a:spcAft>
            </a:pPr>
            <a:r>
              <a:rPr sz="1250" b="0" i="0">
                <a:solidFill>
                  <a:srgbClr val="3A4166"/>
                </a:solidFill>
                <a:latin typeface="Calibri"/>
              </a:rPr>
              <a:t>Accuracy dashboard by domain</a:t>
            </a:r>
          </a:p>
          <a:p>
            <a:pPr algn="l">
              <a:lnSpc>
                <a:spcPts val="1700"/>
              </a:lnSpc>
              <a:spcAft>
                <a:spcPts val="0"/>
              </a:spcAft>
            </a:pPr>
            <a:r>
              <a:rPr sz="1250" b="0" i="0">
                <a:solidFill>
                  <a:srgbClr val="3A4166"/>
                </a:solidFill>
                <a:latin typeface="Calibri"/>
              </a:rPr>
              <a:t>Two-module adaptive practice test</a:t>
            </a:r>
          </a:p>
          <a:p>
            <a:pPr algn="l">
              <a:lnSpc>
                <a:spcPts val="1700"/>
              </a:lnSpc>
              <a:spcAft>
                <a:spcPts val="0"/>
              </a:spcAft>
            </a:pPr>
            <a:r>
              <a:rPr sz="1250" b="0" i="0">
                <a:solidFill>
                  <a:srgbClr val="3A4166"/>
                </a:solidFill>
                <a:latin typeface="Calibri"/>
              </a:rPr>
              <a:t>Badges and daily streaks</a:t>
            </a:r>
          </a:p>
          <a:p>
            <a:pPr algn="l">
              <a:lnSpc>
                <a:spcPts val="1700"/>
              </a:lnSpc>
              <a:spcAft>
                <a:spcPts val="0"/>
              </a:spcAft>
            </a:pPr>
            <a:r>
              <a:rPr sz="1250" b="0" i="0">
                <a:solidFill>
                  <a:srgbClr val="3A4166"/>
                </a:solidFill>
                <a:latin typeface="Calibri"/>
              </a:rPr>
              <a:t/>
            </a:r>
          </a:p>
          <a:p>
            <a:pPr algn="l">
              <a:lnSpc>
                <a:spcPts val="1700"/>
              </a:lnSpc>
              <a:spcAft>
                <a:spcPts val="0"/>
              </a:spcAft>
            </a:pPr>
            <a:r>
              <a:rPr sz="1250" b="0" i="0">
                <a:solidFill>
                  <a:srgbClr val="3A4166"/>
                </a:solidFill>
                <a:latin typeface="Calibri"/>
              </a:rPr>
              <a:t>The verdict: "I don't want it to be</a:t>
            </a:r>
          </a:p>
          <a:p>
            <a:pPr algn="l">
              <a:lnSpc>
                <a:spcPts val="1700"/>
              </a:lnSpc>
              <a:spcAft>
                <a:spcPts val="0"/>
              </a:spcAft>
            </a:pPr>
            <a:r>
              <a:rPr sz="1250" b="0" i="0">
                <a:solidFill>
                  <a:srgbClr val="3A4166"/>
                </a:solidFill>
                <a:latin typeface="Calibri"/>
              </a:rPr>
              <a:t>I go study."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148840"/>
            <a:ext cx="5212080" cy="3291840"/>
          </a:xfrm>
          <a:prstGeom prst="roundRect">
            <a:avLst>
              <a:gd name="adj" fmla="val 9000"/>
            </a:avLst>
          </a:prstGeom>
          <a:solidFill>
            <a:srgbClr val="F1EEFF"/>
          </a:solidFill>
          <a:ln w="12700">
            <a:solidFill>
              <a:srgbClr val="E4E8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01968" y="2441448"/>
            <a:ext cx="46268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4B32B8"/>
                </a:solidFill>
                <a:latin typeface="Calibri"/>
              </a:rPr>
              <a:t>Version 2 — a duel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1968" y="2843784"/>
            <a:ext cx="4626864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00"/>
              </a:lnSpc>
              <a:spcAft>
                <a:spcPts val="0"/>
              </a:spcAft>
            </a:pPr>
            <a:r>
              <a:rPr sz="1250" b="0" i="0">
                <a:solidFill>
                  <a:srgbClr val="3A4166"/>
                </a:solidFill>
                <a:latin typeface="Calibri"/>
              </a:rPr>
              <a:t>Live rooms with a 4-character code</a:t>
            </a:r>
          </a:p>
          <a:p>
            <a:pPr algn="l">
              <a:lnSpc>
                <a:spcPts val="1700"/>
              </a:lnSpc>
              <a:spcAft>
                <a:spcPts val="0"/>
              </a:spcAft>
            </a:pPr>
            <a:r>
              <a:rPr sz="1250" b="0" i="0">
                <a:solidFill>
                  <a:srgbClr val="3A4166"/>
                </a:solidFill>
                <a:latin typeface="Calibri"/>
              </a:rPr>
              <a:t>Same question, both screens, first correct wins</a:t>
            </a:r>
          </a:p>
          <a:p>
            <a:pPr algn="l">
              <a:lnSpc>
                <a:spcPts val="1700"/>
              </a:lnSpc>
              <a:spcAft>
                <a:spcPts val="0"/>
              </a:spcAft>
            </a:pPr>
            <a:r>
              <a:rPr sz="1250" b="0" i="0">
                <a:solidFill>
                  <a:srgbClr val="3A4166"/>
                </a:solidFill>
                <a:latin typeface="Calibri"/>
              </a:rPr>
              <a:t>Rivalry records: "you're 3–1 against Sam"</a:t>
            </a:r>
          </a:p>
          <a:p>
            <a:pPr algn="l">
              <a:lnSpc>
                <a:spcPts val="1700"/>
              </a:lnSpc>
              <a:spcAft>
                <a:spcPts val="0"/>
              </a:spcAft>
            </a:pPr>
            <a:r>
              <a:rPr sz="1250" b="0" i="0">
                <a:solidFill>
                  <a:srgbClr val="3A4166"/>
                </a:solidFill>
                <a:latin typeface="Calibri"/>
              </a:rPr>
              <a:t>Solo demoted to one row on the lobby</a:t>
            </a:r>
          </a:p>
          <a:p>
            <a:pPr algn="l">
              <a:lnSpc>
                <a:spcPts val="1700"/>
              </a:lnSpc>
              <a:spcAft>
                <a:spcPts val="0"/>
              </a:spcAft>
            </a:pPr>
            <a:r>
              <a:rPr sz="1250" b="0" i="0">
                <a:solidFill>
                  <a:srgbClr val="3A4166"/>
                </a:solidFill>
                <a:latin typeface="Calibri"/>
              </a:rPr>
              <a:t/>
            </a:r>
          </a:p>
          <a:p>
            <a:pPr algn="l">
              <a:lnSpc>
                <a:spcPts val="1700"/>
              </a:lnSpc>
              <a:spcAft>
                <a:spcPts val="0"/>
              </a:spcAft>
            </a:pPr>
            <a:r>
              <a:rPr sz="1250" b="0" i="0">
                <a:solidFill>
                  <a:srgbClr val="3A4166"/>
                </a:solidFill>
                <a:latin typeface="Calibri"/>
              </a:rPr>
              <a:t>Same questions. Completely different product.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D7490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12142E"/>
                </a:solidFill>
                <a:latin typeface="Cambria"/>
              </a:rPr>
              <a:t>One server, two players, no framework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3108960" cy="1600200"/>
          </a:xfrm>
          <a:prstGeom prst="roundRect">
            <a:avLst>
              <a:gd name="adj" fmla="val 9000"/>
            </a:avLst>
          </a:prstGeom>
          <a:solidFill>
            <a:srgbClr val="F4F6FC"/>
          </a:solidFill>
          <a:ln w="12700">
            <a:solidFill>
              <a:srgbClr val="E4E8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22959" y="2057400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2142E"/>
                </a:solidFill>
                <a:latin typeface="Calibri"/>
              </a:rPr>
              <a:t>Player 1 browser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441448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00"/>
              </a:lnSpc>
              <a:spcAft>
                <a:spcPts val="0"/>
              </a:spcAft>
            </a:pPr>
            <a:r>
              <a:rPr sz="1150" b="0" i="0">
                <a:solidFill>
                  <a:srgbClr val="3A4166"/>
                </a:solidFill>
                <a:latin typeface="Calibri"/>
              </a:rPr>
              <a:t>Renders state</a:t>
            </a:r>
          </a:p>
          <a:p>
            <a:pPr algn="ctr">
              <a:lnSpc>
                <a:spcPts val="1500"/>
              </a:lnSpc>
              <a:spcAft>
                <a:spcPts val="0"/>
              </a:spcAft>
            </a:pPr>
            <a:r>
              <a:rPr sz="1150" b="0" i="0">
                <a:solidFill>
                  <a:srgbClr val="3A4166"/>
                </a:solidFill>
                <a:latin typeface="Calibri"/>
              </a:rPr>
              <a:t>Sends intents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977639"/>
            <a:ext cx="3108960" cy="1600200"/>
          </a:xfrm>
          <a:prstGeom prst="roundRect">
            <a:avLst>
              <a:gd name="adj" fmla="val 9000"/>
            </a:avLst>
          </a:prstGeom>
          <a:solidFill>
            <a:srgbClr val="F4F6FC"/>
          </a:solidFill>
          <a:ln w="12700">
            <a:solidFill>
              <a:srgbClr val="E4E8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59" y="4251959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2142E"/>
                </a:solidFill>
                <a:latin typeface="Calibri"/>
              </a:rPr>
              <a:t>Player 2 browser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4636007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00"/>
              </a:lnSpc>
              <a:spcAft>
                <a:spcPts val="0"/>
              </a:spcAft>
            </a:pPr>
            <a:r>
              <a:rPr sz="1150" b="0" i="0">
                <a:solidFill>
                  <a:srgbClr val="3A4166"/>
                </a:solidFill>
                <a:latin typeface="Calibri"/>
              </a:rPr>
              <a:t>Phone, laptop,</a:t>
            </a:r>
          </a:p>
          <a:p>
            <a:pPr algn="ctr">
              <a:lnSpc>
                <a:spcPts val="1500"/>
              </a:lnSpc>
              <a:spcAft>
                <a:spcPts val="0"/>
              </a:spcAft>
            </a:pPr>
            <a:r>
              <a:rPr sz="1150" b="0" i="0">
                <a:solidFill>
                  <a:srgbClr val="3A4166"/>
                </a:solidFill>
                <a:latin typeface="Calibri"/>
              </a:rPr>
              <a:t>any browser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2697480"/>
            <a:ext cx="3291840" cy="1965960"/>
          </a:xfrm>
          <a:prstGeom prst="roundRect">
            <a:avLst>
              <a:gd name="adj" fmla="val 9000"/>
            </a:avLst>
          </a:prstGeom>
          <a:solidFill>
            <a:srgbClr val="1E2246"/>
          </a:solidFill>
          <a:ln w="127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983480" y="2971800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Python match 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3355848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00"/>
              </a:lnSpc>
              <a:spcAft>
                <a:spcPts val="0"/>
              </a:spcAft>
            </a:pPr>
            <a:r>
              <a:rPr sz="1150" b="0" i="0">
                <a:solidFill>
                  <a:srgbClr val="3A4166"/>
                </a:solidFill>
                <a:latin typeface="Calibri"/>
              </a:rPr>
              <a:t>Rooms · rounds · clock</a:t>
            </a:r>
          </a:p>
          <a:p>
            <a:pPr algn="ctr">
              <a:lnSpc>
                <a:spcPts val="1500"/>
              </a:lnSpc>
              <a:spcAft>
                <a:spcPts val="0"/>
              </a:spcAft>
            </a:pPr>
            <a:r>
              <a:rPr sz="1150" b="0" i="0">
                <a:solidFill>
                  <a:srgbClr val="3A4166"/>
                </a:solidFill>
                <a:latin typeface="Calibri"/>
              </a:rPr>
              <a:t>Scoring · answer keys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2697480"/>
            <a:ext cx="2423160" cy="1965960"/>
          </a:xfrm>
          <a:prstGeom prst="roundRect">
            <a:avLst>
              <a:gd name="adj" fmla="val 9000"/>
            </a:avLst>
          </a:prstGeom>
          <a:solidFill>
            <a:srgbClr val="F4F6FC"/>
          </a:solidFill>
          <a:ln w="12700">
            <a:solidFill>
              <a:srgbClr val="E4E8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281159" y="2971800"/>
            <a:ext cx="2057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2142E"/>
                </a:solidFill>
                <a:latin typeface="Calibri"/>
              </a:rPr>
              <a:t>JSON bank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59" y="3355848"/>
            <a:ext cx="2057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00"/>
              </a:lnSpc>
              <a:spcAft>
                <a:spcPts val="0"/>
              </a:spcAft>
            </a:pPr>
            <a:r>
              <a:rPr sz="1150" b="0" i="0">
                <a:solidFill>
                  <a:srgbClr val="3A4166"/>
                </a:solidFill>
                <a:latin typeface="Calibri"/>
              </a:rPr>
              <a:t>49 built-in</a:t>
            </a:r>
          </a:p>
          <a:p>
            <a:pPr algn="ctr">
              <a:lnSpc>
                <a:spcPts val="1500"/>
              </a:lnSpc>
              <a:spcAft>
                <a:spcPts val="0"/>
              </a:spcAft>
            </a:pPr>
            <a:r>
              <a:rPr sz="1150" b="0" i="0">
                <a:solidFill>
                  <a:srgbClr val="3A4166"/>
                </a:solidFill>
                <a:latin typeface="Calibri"/>
              </a:rPr>
              <a:t>+ generated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749039" y="2587752"/>
            <a:ext cx="1051561" cy="704088"/>
          </a:xfrm>
          <a:prstGeom prst="bentConnector3">
            <a:avLst/>
          </a:prstGeom>
          <a:ln w="25400">
            <a:solidFill>
              <a:srgbClr val="0D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3749039" y="4069080"/>
            <a:ext cx="1051561" cy="704088"/>
          </a:xfrm>
          <a:prstGeom prst="bentConnector3">
            <a:avLst/>
          </a:prstGeom>
          <a:ln w="25400">
            <a:solidFill>
              <a:srgbClr val="0D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092440" y="3675887"/>
            <a:ext cx="1005840" cy="0"/>
          </a:xfrm>
          <a:prstGeom prst="bentConnector3">
            <a:avLst/>
          </a:prstGeom>
          <a:ln w="25400">
            <a:solidFill>
              <a:srgbClr val="0D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0D7490"/>
                </a:solidFill>
                <a:latin typeface="Calibri"/>
              </a:rPr>
              <a:t>POST for intents   ·   Server-Sent Events for state   ·   no WebSockets, so it runs anywhere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D7490"/>
                </a:solidFill>
                <a:latin typeface="Calibri"/>
              </a:rPr>
              <a:t>WHY IT IS BUILT THIS 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12142E"/>
                </a:solidFill>
                <a:latin typeface="Cambria"/>
              </a:rPr>
              <a:t>The server decides everything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3A4166"/>
                </a:solidFill>
                <a:latin typeface="Calibri"/>
              </a:rPr>
              <a:t>Clients render state and send intents. They never own the truth.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3474720" cy="2286000"/>
          </a:xfrm>
          <a:prstGeom prst="roundRect">
            <a:avLst>
              <a:gd name="adj" fmla="val 9000"/>
            </a:avLst>
          </a:prstGeom>
          <a:solidFill>
            <a:srgbClr val="F4F6FC"/>
          </a:solidFill>
          <a:ln w="12700">
            <a:solidFill>
              <a:srgbClr val="E4E8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932688" y="2377439"/>
            <a:ext cx="475488" cy="475488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32688" y="2496311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68" y="2395727"/>
            <a:ext cx="224942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142E"/>
                </a:solidFill>
                <a:latin typeface="Calibri"/>
              </a:rPr>
              <a:t>No cheating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2798063"/>
            <a:ext cx="2249424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00"/>
              </a:lnSpc>
              <a:spcAft>
                <a:spcPts val="0"/>
              </a:spcAft>
            </a:pPr>
            <a:r>
              <a:rPr sz="1250" b="0" i="0">
                <a:solidFill>
                  <a:srgbClr val="3A4166"/>
                </a:solidFill>
                <a:latin typeface="Calibri"/>
              </a:rPr>
              <a:t>The answer key is not sent to the browser until the reveal. You cannot win by opening the console.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103120"/>
            <a:ext cx="3474720" cy="2286000"/>
          </a:xfrm>
          <a:prstGeom prst="roundRect">
            <a:avLst>
              <a:gd name="adj" fmla="val 9000"/>
            </a:avLst>
          </a:prstGeom>
          <a:solidFill>
            <a:srgbClr val="F4F6FC"/>
          </a:solidFill>
          <a:ln w="12700">
            <a:solidFill>
              <a:srgbClr val="E4E8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636008" y="2377439"/>
            <a:ext cx="475488" cy="475488"/>
          </a:xfrm>
          <a:prstGeom prst="ellipse">
            <a:avLst/>
          </a:prstGeom>
          <a:solidFill>
            <a:srgbClr val="0D7490"/>
          </a:solidFill>
          <a:ln w="12700">
            <a:solidFill>
              <a:srgbClr val="0D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636008" y="2496311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76088" y="2395727"/>
            <a:ext cx="224942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142E"/>
                </a:solidFill>
                <a:latin typeface="Calibri"/>
              </a:rPr>
              <a:t>One clock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76088" y="2798063"/>
            <a:ext cx="2249424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00"/>
              </a:lnSpc>
              <a:spcAft>
                <a:spcPts val="0"/>
              </a:spcAft>
            </a:pPr>
            <a:r>
              <a:rPr sz="1250" b="0" i="0">
                <a:solidFill>
                  <a:srgbClr val="3A4166"/>
                </a:solidFill>
                <a:latin typeface="Calibri"/>
              </a:rPr>
              <a:t>The countdown comes from a server timestamp, so both screens agree even if one machine is slower.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103120"/>
            <a:ext cx="3474720" cy="2286000"/>
          </a:xfrm>
          <a:prstGeom prst="roundRect">
            <a:avLst>
              <a:gd name="adj" fmla="val 9000"/>
            </a:avLst>
          </a:prstGeom>
          <a:solidFill>
            <a:srgbClr val="F4F6FC"/>
          </a:solidFill>
          <a:ln w="12700">
            <a:solidFill>
              <a:srgbClr val="E4E8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8339328" y="2377439"/>
            <a:ext cx="475488" cy="475488"/>
          </a:xfrm>
          <a:prstGeom prst="ellipse">
            <a:avLst/>
          </a:prstGeom>
          <a:solidFill>
            <a:srgbClr val="4B32B8"/>
          </a:solidFill>
          <a:ln w="12700">
            <a:solidFill>
              <a:srgbClr val="4B3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339328" y="2496311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79408" y="2395727"/>
            <a:ext cx="224942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142E"/>
                </a:solidFill>
                <a:latin typeface="Calibri"/>
              </a:rPr>
              <a:t>One referee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79408" y="2798063"/>
            <a:ext cx="2249424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00"/>
              </a:lnSpc>
              <a:spcAft>
                <a:spcPts val="0"/>
              </a:spcAft>
            </a:pPr>
            <a:r>
              <a:rPr sz="1250" b="0" i="0">
                <a:solidFill>
                  <a:srgbClr val="3A4166"/>
                </a:solidFill>
                <a:latin typeface="Calibri"/>
              </a:rPr>
              <a:t>Who buzzed first is settled in one place, by arrival time — not by whichever browser felt faster.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75488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1">
                <a:solidFill>
                  <a:srgbClr val="646B88"/>
                </a:solidFill>
                <a:latin typeface="Calibri"/>
              </a:rPr>
              <a:t>Trade-off accepted: match state lives in memory, so a server restart ends live rooms. Rooms last minutes, not days.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D7490"/>
                </a:solidFill>
                <a:latin typeface="Calibri"/>
              </a:rPr>
              <a:t>GAME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12142E"/>
                </a:solidFill>
                <a:latin typeface="Cambria"/>
              </a:rPr>
              <a:t>Four ways to play the same bank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5212080" cy="1691640"/>
          </a:xfrm>
          <a:prstGeom prst="roundRect">
            <a:avLst>
              <a:gd name="adj" fmla="val 9000"/>
            </a:avLst>
          </a:prstGeom>
          <a:solidFill>
            <a:srgbClr val="F4F6FC"/>
          </a:solidFill>
          <a:ln w="12700">
            <a:solidFill>
              <a:srgbClr val="E4E8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60119" y="2194560"/>
            <a:ext cx="566928" cy="566928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737360" y="2048256"/>
            <a:ext cx="3840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2142E"/>
                </a:solidFill>
                <a:latin typeface="Calibri"/>
              </a:rPr>
              <a:t>Buzzer Race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432304"/>
            <a:ext cx="3840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 i="0">
                <a:solidFill>
                  <a:srgbClr val="3A4166"/>
                </a:solidFill>
                <a:latin typeface="Calibri"/>
              </a:rPr>
              <a:t>Same question both screens. First correct takes it;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 i="0">
                <a:solidFill>
                  <a:srgbClr val="3A4166"/>
                </a:solidFill>
                <a:latin typeface="Calibri"/>
              </a:rPr>
              <a:t>a wrong answer locks you out.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212080" cy="1691640"/>
          </a:xfrm>
          <a:prstGeom prst="roundRect">
            <a:avLst>
              <a:gd name="adj" fmla="val 9000"/>
            </a:avLst>
          </a:prstGeom>
          <a:solidFill>
            <a:srgbClr val="F4F6FC"/>
          </a:solidFill>
          <a:ln w="12700">
            <a:solidFill>
              <a:srgbClr val="E4E8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6629400" y="2194560"/>
            <a:ext cx="566928" cy="566928"/>
          </a:xfrm>
          <a:prstGeom prst="ellipse">
            <a:avLst/>
          </a:prstGeom>
          <a:solidFill>
            <a:srgbClr val="0D7490"/>
          </a:solidFill>
          <a:ln w="12700">
            <a:solidFill>
              <a:srgbClr val="0D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406640" y="2048256"/>
            <a:ext cx="3840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2142E"/>
                </a:solidFill>
                <a:latin typeface="Calibri"/>
              </a:rPr>
              <a:t>Steal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2432304"/>
            <a:ext cx="3840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 i="0">
                <a:solidFill>
                  <a:srgbClr val="3A4166"/>
                </a:solidFill>
                <a:latin typeface="Calibri"/>
              </a:rPr>
              <a:t>The question is yours. Miss it and your opponent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 i="0">
                <a:solidFill>
                  <a:srgbClr val="3A4166"/>
                </a:solidFill>
                <a:latin typeface="Calibri"/>
              </a:rPr>
              <a:t>gets a window to steal.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566160"/>
            <a:ext cx="5212080" cy="1691640"/>
          </a:xfrm>
          <a:prstGeom prst="roundRect">
            <a:avLst>
              <a:gd name="adj" fmla="val 9000"/>
            </a:avLst>
          </a:prstGeom>
          <a:solidFill>
            <a:srgbClr val="F4F6FC"/>
          </a:solidFill>
          <a:ln w="12700">
            <a:solidFill>
              <a:srgbClr val="E4E8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960119" y="4114800"/>
            <a:ext cx="566928" cy="566928"/>
          </a:xfrm>
          <a:prstGeom prst="ellipse">
            <a:avLst/>
          </a:prstGeom>
          <a:solidFill>
            <a:srgbClr val="4B32B8"/>
          </a:solidFill>
          <a:ln w="12700">
            <a:solidFill>
              <a:srgbClr val="4B3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737360" y="3968496"/>
            <a:ext cx="3840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2142E"/>
                </a:solidFill>
                <a:latin typeface="Calibri"/>
              </a:rPr>
              <a:t>Category Draft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4352544"/>
            <a:ext cx="3840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 i="0">
                <a:solidFill>
                  <a:srgbClr val="3A4166"/>
                </a:solidFill>
                <a:latin typeface="Calibri"/>
              </a:rPr>
              <a:t>Draft SAT domains, then fight over them.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 i="0">
                <a:solidFill>
                  <a:srgbClr val="3A4166"/>
                </a:solidFill>
                <a:latin typeface="Calibri"/>
              </a:rPr>
              <a:t>Two answers claims a domain.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566160"/>
            <a:ext cx="5212080" cy="1691640"/>
          </a:xfrm>
          <a:prstGeom prst="roundRect">
            <a:avLst>
              <a:gd name="adj" fmla="val 9000"/>
            </a:avLst>
          </a:prstGeom>
          <a:solidFill>
            <a:srgbClr val="F4F6FC"/>
          </a:solidFill>
          <a:ln w="12700">
            <a:solidFill>
              <a:srgbClr val="E4E8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6629400" y="4114800"/>
            <a:ext cx="566928" cy="566928"/>
          </a:xfrm>
          <a:prstGeom prst="ellipse">
            <a:avLst/>
          </a:prstGeom>
          <a:solidFill>
            <a:srgbClr val="0E7A52"/>
          </a:solidFill>
          <a:ln w="12700">
            <a:solidFill>
              <a:srgbClr val="0E7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406640" y="3968496"/>
            <a:ext cx="3840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2142E"/>
                </a:solidFill>
                <a:latin typeface="Calibri"/>
              </a:rPr>
              <a:t>Wager Rounds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4352544"/>
            <a:ext cx="3840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 i="0">
                <a:solidFill>
                  <a:srgbClr val="3A4166"/>
                </a:solidFill>
                <a:latin typeface="Calibri"/>
              </a:rPr>
              <a:t>See the domain and difficulty, secretly bet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 i="0">
                <a:solidFill>
                  <a:srgbClr val="3A4166"/>
                </a:solidFill>
                <a:latin typeface="Calibri"/>
              </a:rPr>
              <a:t>1–3 points, then race.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57784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1">
                <a:solidFill>
                  <a:srgbClr val="646B88"/>
                </a:solidFill>
                <a:latin typeface="Calibri"/>
              </a:rPr>
              <a:t>All four share one round loop on the server — the differences are the scoring rules and which phase runs before the question.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D7490"/>
                </a:solidFill>
                <a:latin typeface="Calibri"/>
              </a:rPr>
              <a:t>THE CONTENT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12142E"/>
                </a:solidFill>
                <a:latin typeface="Cambria"/>
              </a:rPr>
              <a:t>Questions that check their own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44752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3A4166"/>
                </a:solidFill>
                <a:latin typeface="Calibri"/>
              </a:rPr>
              <a:t>A duel needs a bank big enough that neither player memorizes it. Claude writes more — but a plausible question with the wrong key is worse than no question.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2331720" cy="1645920"/>
          </a:xfrm>
          <a:prstGeom prst="roundRect">
            <a:avLst>
              <a:gd name="adj" fmla="val 9000"/>
            </a:avLst>
          </a:prstGeom>
          <a:solidFill>
            <a:srgbClr val="F4F6FC"/>
          </a:solidFill>
          <a:ln w="12700">
            <a:solidFill>
              <a:srgbClr val="E4E8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04671" y="2432304"/>
            <a:ext cx="2011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7C5CFF"/>
                </a:solidFill>
                <a:latin typeface="Calibri"/>
              </a:rPr>
              <a:t>Author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2779776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0" i="0">
                <a:solidFill>
                  <a:srgbClr val="3A4166"/>
                </a:solidFill>
                <a:latin typeface="Calibri"/>
              </a:rPr>
              <a:t>Structured JSON</a:t>
            </a:r>
          </a:p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0" i="0">
                <a:solidFill>
                  <a:srgbClr val="3A4166"/>
                </a:solidFill>
                <a:latin typeface="Calibri"/>
              </a:rPr>
              <a:t>schema, so output</a:t>
            </a:r>
          </a:p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0" i="0">
                <a:solidFill>
                  <a:srgbClr val="3A4166"/>
                </a:solidFill>
                <a:latin typeface="Calibri"/>
              </a:rPr>
              <a:t>is always valid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194560"/>
            <a:ext cx="2331720" cy="1645920"/>
          </a:xfrm>
          <a:prstGeom prst="roundRect">
            <a:avLst>
              <a:gd name="adj" fmla="val 9000"/>
            </a:avLst>
          </a:prstGeom>
          <a:solidFill>
            <a:srgbClr val="F4F6FC"/>
          </a:solidFill>
          <a:ln w="12700">
            <a:solidFill>
              <a:srgbClr val="E4E8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410712" y="2432304"/>
            <a:ext cx="2011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7C5CFF"/>
                </a:solidFill>
                <a:latin typeface="Calibri"/>
              </a:rPr>
              <a:t>Validate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10712" y="2779776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0" i="0">
                <a:solidFill>
                  <a:srgbClr val="3A4166"/>
                </a:solidFill>
                <a:latin typeface="Calibri"/>
              </a:rPr>
              <a:t>Four choices,</a:t>
            </a:r>
          </a:p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0" i="0">
                <a:solidFill>
                  <a:srgbClr val="3A4166"/>
                </a:solidFill>
                <a:latin typeface="Calibri"/>
              </a:rPr>
              <a:t>no duplicates,</a:t>
            </a:r>
          </a:p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0" i="0">
                <a:solidFill>
                  <a:srgbClr val="3A4166"/>
                </a:solidFill>
                <a:latin typeface="Calibri"/>
              </a:rPr>
              <a:t>not already in bank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0" y="2194560"/>
            <a:ext cx="2331720" cy="1645920"/>
          </a:xfrm>
          <a:prstGeom prst="roundRect">
            <a:avLst>
              <a:gd name="adj" fmla="val 9000"/>
            </a:avLst>
          </a:prstGeom>
          <a:solidFill>
            <a:srgbClr val="F4F6FC"/>
          </a:solidFill>
          <a:ln w="12700">
            <a:solidFill>
              <a:srgbClr val="E4E8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016752" y="2432304"/>
            <a:ext cx="2011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0D7490"/>
                </a:solidFill>
                <a:latin typeface="Calibri"/>
              </a:rPr>
              <a:t>Re-solve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6752" y="2779776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0" i="0">
                <a:solidFill>
                  <a:srgbClr val="3A4166"/>
                </a:solidFill>
                <a:latin typeface="Calibri"/>
              </a:rPr>
              <a:t>A second request</a:t>
            </a:r>
          </a:p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0" i="0">
                <a:solidFill>
                  <a:srgbClr val="3A4166"/>
                </a:solidFill>
                <a:latin typeface="Calibri"/>
              </a:rPr>
              <a:t>solves it WITHOUT</a:t>
            </a:r>
          </a:p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0" i="0">
                <a:solidFill>
                  <a:srgbClr val="3A4166"/>
                </a:solidFill>
                <a:latin typeface="Calibri"/>
              </a:rPr>
              <a:t>the answer key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2194560"/>
            <a:ext cx="2331720" cy="1645920"/>
          </a:xfrm>
          <a:prstGeom prst="roundRect">
            <a:avLst>
              <a:gd name="adj" fmla="val 9000"/>
            </a:avLst>
          </a:prstGeom>
          <a:solidFill>
            <a:srgbClr val="F4F6FC"/>
          </a:solidFill>
          <a:ln w="12700">
            <a:solidFill>
              <a:srgbClr val="E4E8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622792" y="2432304"/>
            <a:ext cx="2011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0E7A52"/>
                </a:solidFill>
                <a:latin typeface="Calibri"/>
              </a:rPr>
              <a:t>Accept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22792" y="2779776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0" i="0">
                <a:solidFill>
                  <a:srgbClr val="3A4166"/>
                </a:solidFill>
                <a:latin typeface="Calibri"/>
              </a:rPr>
              <a:t>Only if the two</a:t>
            </a:r>
          </a:p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0" i="0">
                <a:solidFill>
                  <a:srgbClr val="3A4166"/>
                </a:solidFill>
                <a:latin typeface="Calibri"/>
              </a:rPr>
              <a:t>agree. Otherwise</a:t>
            </a:r>
          </a:p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0" i="0">
                <a:solidFill>
                  <a:srgbClr val="3A4166"/>
                </a:solidFill>
                <a:latin typeface="Calibri"/>
              </a:rPr>
              <a:t>dropped, with reason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999232" y="3017520"/>
            <a:ext cx="228600" cy="0"/>
          </a:xfrm>
          <a:prstGeom prst="bentConnector3">
            <a:avLst/>
          </a:prstGeom>
          <a:ln w="25400">
            <a:solidFill>
              <a:srgbClr val="646B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605272" y="3017520"/>
            <a:ext cx="228600" cy="0"/>
          </a:xfrm>
          <a:prstGeom prst="bentConnector3">
            <a:avLst/>
          </a:prstGeom>
          <a:ln w="25400">
            <a:solidFill>
              <a:srgbClr val="646B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211312" y="3017520"/>
            <a:ext cx="228600" cy="0"/>
          </a:xfrm>
          <a:prstGeom prst="bentConnector3">
            <a:avLst/>
          </a:prstGeom>
          <a:ln w="25400">
            <a:solidFill>
              <a:srgbClr val="646B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" y="4206240"/>
            <a:ext cx="31089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600" b="1" i="0">
                <a:solidFill>
                  <a:srgbClr val="7C5CFF"/>
                </a:solidFill>
                <a:latin typeface="Cambria"/>
              </a:rPr>
              <a:t>49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956048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</a:pPr>
            <a:r>
              <a:rPr sz="1150" b="0" i="0">
                <a:solidFill>
                  <a:srgbClr val="646B88"/>
                </a:solidFill>
                <a:latin typeface="Calibri"/>
              </a:rPr>
              <a:t>original questions written by hand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206240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600" b="1" i="0">
                <a:solidFill>
                  <a:srgbClr val="0D7490"/>
                </a:solidFill>
                <a:latin typeface="Cambria"/>
              </a:rPr>
              <a:t>2 calls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956048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</a:pPr>
            <a:r>
              <a:rPr sz="1150" b="0" i="0">
                <a:solidFill>
                  <a:srgbClr val="646B88"/>
                </a:solidFill>
                <a:latin typeface="Calibri"/>
              </a:rPr>
              <a:t>per batch: one to write, one to check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206240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600" b="1" i="0">
                <a:solidFill>
                  <a:srgbClr val="0E7A52"/>
                </a:solidFill>
                <a:latin typeface="Cambria"/>
              </a:rPr>
              <a:t>~1–2¢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956048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</a:pPr>
            <a:r>
              <a:rPr sz="1150" b="0" i="0">
                <a:solidFill>
                  <a:srgbClr val="646B88"/>
                </a:solidFill>
                <a:latin typeface="Calibri"/>
              </a:rPr>
              <a:t>per verified question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D7490"/>
                </a:solidFill>
                <a:latin typeface="Calibri"/>
              </a:rPr>
              <a:t>THE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12142E"/>
                </a:solidFill>
                <a:latin typeface="Cambria"/>
              </a:rPr>
              <a:t>What we would not build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5394960" cy="2468880"/>
          </a:xfrm>
          <a:prstGeom prst="roundRect">
            <a:avLst>
              <a:gd name="adj" fmla="val 9000"/>
            </a:avLst>
          </a:prstGeom>
          <a:solidFill>
            <a:srgbClr val="FDF0F2"/>
          </a:solidFill>
          <a:ln w="12700">
            <a:solidFill>
              <a:srgbClr val="E4E8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32688" y="2075688"/>
            <a:ext cx="4809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C62A4B"/>
                </a:solidFill>
                <a:latin typeface="Calibri"/>
              </a:rPr>
              <a:t>Asked for: import Bluebook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478024"/>
            <a:ext cx="4809744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00"/>
              </a:lnSpc>
              <a:spcAft>
                <a:spcPts val="0"/>
              </a:spcAft>
            </a:pPr>
            <a:r>
              <a:rPr sz="1250" b="0" i="0">
                <a:solidFill>
                  <a:srgbClr val="3A4166"/>
                </a:solidFill>
                <a:latin typeface="Calibri"/>
              </a:rPr>
              <a:t>Bluebook is College Board's app and its questions are copyrighted. Extracting them into another app is not something we build, however they are fetched.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83080"/>
            <a:ext cx="5303520" cy="2468880"/>
          </a:xfrm>
          <a:prstGeom prst="roundRect">
            <a:avLst>
              <a:gd name="adj" fmla="val 9000"/>
            </a:avLst>
          </a:prstGeom>
          <a:solidFill>
            <a:srgbClr val="EAF7F1"/>
          </a:solidFill>
          <a:ln w="12700">
            <a:solidFill>
              <a:srgbClr val="E4E8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10528" y="2075688"/>
            <a:ext cx="47183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E7A52"/>
                </a:solidFill>
                <a:latin typeface="Calibri"/>
              </a:rPr>
              <a:t>Built instead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0528" y="2478024"/>
            <a:ext cx="4718304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00"/>
              </a:lnSpc>
              <a:spcAft>
                <a:spcPts val="0"/>
              </a:spcAft>
            </a:pPr>
            <a:r>
              <a:rPr sz="1250" b="0" i="0">
                <a:solidFill>
                  <a:srgbClr val="3A4166"/>
                </a:solidFill>
                <a:latin typeface="Calibri"/>
              </a:rPr>
              <a:t>Original items only, plus a generator tuned to the real format. An importer is planned so any bank you hold the rights to can be loaded.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1">
                <a:solidFill>
                  <a:srgbClr val="3A4166"/>
                </a:solidFill>
                <a:latin typeface="Calibri"/>
              </a:rPr>
              <a:t>Bluebook's interface conventions informed the math tools — the calculator and the formula reference. Its content did not.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D7490"/>
                </a:solidFill>
                <a:latin typeface="Calibri"/>
              </a:rPr>
              <a:t>CONNECTIVITY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12142E"/>
                </a:solidFill>
                <a:latin typeface="Cambria"/>
              </a:rPr>
              <a:t>Three ways to reach an opponent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3474720" cy="3017520"/>
          </a:xfrm>
          <a:prstGeom prst="roundRect">
            <a:avLst>
              <a:gd name="adj" fmla="val 9000"/>
            </a:avLst>
          </a:prstGeom>
          <a:solidFill>
            <a:srgbClr val="F4F6FC"/>
          </a:solidFill>
          <a:ln w="12700">
            <a:solidFill>
              <a:srgbClr val="E4E8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32688" y="2011679"/>
            <a:ext cx="475488" cy="475488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32688" y="2130552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2768" y="2029967"/>
            <a:ext cx="224942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142E"/>
                </a:solidFill>
                <a:latin typeface="Calibri"/>
              </a:rPr>
              <a:t>Same Wi-Fi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68" y="2432304"/>
            <a:ext cx="2249424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00"/>
              </a:lnSpc>
              <a:spcAft>
                <a:spcPts val="0"/>
              </a:spcAft>
            </a:pPr>
            <a:r>
              <a:rPr sz="1250" b="0" i="0">
                <a:solidFill>
                  <a:srgbClr val="3A4166"/>
                </a:solidFill>
                <a:latin typeface="Calibri"/>
              </a:rPr>
              <a:t>You run the server with --lan. They open your address and type the code.</a:t>
            </a:r>
          </a:p>
          <a:p>
            <a:pPr algn="l">
              <a:lnSpc>
                <a:spcPts val="1700"/>
              </a:lnSpc>
              <a:spcAft>
                <a:spcPts val="0"/>
              </a:spcAft>
            </a:pPr>
            <a:r>
              <a:rPr sz="1250" b="0" i="0">
                <a:solidFill>
                  <a:srgbClr val="3A4166"/>
                </a:solidFill>
                <a:latin typeface="Calibri"/>
              </a:rPr>
              <a:t/>
            </a:r>
          </a:p>
          <a:p>
            <a:pPr algn="l">
              <a:lnSpc>
                <a:spcPts val="1700"/>
              </a:lnSpc>
              <a:spcAft>
                <a:spcPts val="0"/>
              </a:spcAft>
            </a:pPr>
            <a:r>
              <a:rPr sz="1250" b="0" i="0">
                <a:solidFill>
                  <a:srgbClr val="3A4166"/>
                </a:solidFill>
                <a:latin typeface="Calibri"/>
              </a:rPr>
              <a:t>Works today. No account, no internet.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37360"/>
            <a:ext cx="3474720" cy="3017520"/>
          </a:xfrm>
          <a:prstGeom prst="roundRect">
            <a:avLst>
              <a:gd name="adj" fmla="val 9000"/>
            </a:avLst>
          </a:prstGeom>
          <a:solidFill>
            <a:srgbClr val="F4F6FC"/>
          </a:solidFill>
          <a:ln w="12700">
            <a:solidFill>
              <a:srgbClr val="E4E8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4636008" y="2011679"/>
            <a:ext cx="475488" cy="475488"/>
          </a:xfrm>
          <a:prstGeom prst="ellipse">
            <a:avLst/>
          </a:prstGeom>
          <a:solidFill>
            <a:srgbClr val="0D7490"/>
          </a:solidFill>
          <a:ln w="12700">
            <a:solidFill>
              <a:srgbClr val="0D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36008" y="2130552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76088" y="2029967"/>
            <a:ext cx="224942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142E"/>
                </a:solidFill>
                <a:latin typeface="Calibri"/>
              </a:rPr>
              <a:t>Online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76088" y="2432304"/>
            <a:ext cx="2249424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00"/>
              </a:lnSpc>
              <a:spcAft>
                <a:spcPts val="0"/>
              </a:spcAft>
            </a:pPr>
            <a:r>
              <a:rPr sz="1250" b="0" i="0">
                <a:solidFill>
                  <a:srgbClr val="3A4166"/>
                </a:solidFill>
                <a:latin typeface="Calibri"/>
              </a:rPr>
              <a:t>The identical server, deployed. Both open the same URL.</a:t>
            </a:r>
          </a:p>
          <a:p>
            <a:pPr algn="l">
              <a:lnSpc>
                <a:spcPts val="1700"/>
              </a:lnSpc>
              <a:spcAft>
                <a:spcPts val="0"/>
              </a:spcAft>
            </a:pPr>
            <a:r>
              <a:rPr sz="1250" b="0" i="0">
                <a:solidFill>
                  <a:srgbClr val="3A4166"/>
                </a:solidFill>
                <a:latin typeface="Calibri"/>
              </a:rPr>
              <a:t/>
            </a:r>
          </a:p>
          <a:p>
            <a:pPr algn="l">
              <a:lnSpc>
                <a:spcPts val="1700"/>
              </a:lnSpc>
              <a:spcAft>
                <a:spcPts val="0"/>
              </a:spcAft>
            </a:pPr>
            <a:r>
              <a:rPr sz="1250" b="0" i="0">
                <a:solidFill>
                  <a:srgbClr val="3A4166"/>
                </a:solidFill>
                <a:latin typeface="Calibri"/>
              </a:rPr>
              <a:t>Dockerfile and Fly config included; one instance only.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737360"/>
            <a:ext cx="3474720" cy="3017520"/>
          </a:xfrm>
          <a:prstGeom prst="roundRect">
            <a:avLst>
              <a:gd name="adj" fmla="val 9000"/>
            </a:avLst>
          </a:prstGeom>
          <a:solidFill>
            <a:srgbClr val="F4F6FC"/>
          </a:solidFill>
          <a:ln w="12700">
            <a:solidFill>
              <a:srgbClr val="E4E8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39328" y="2011679"/>
            <a:ext cx="475488" cy="475488"/>
          </a:xfrm>
          <a:prstGeom prst="ellipse">
            <a:avLst/>
          </a:prstGeom>
          <a:solidFill>
            <a:srgbClr val="0E7A52"/>
          </a:solidFill>
          <a:ln w="12700">
            <a:solidFill>
              <a:srgbClr val="0E7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339328" y="2130552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79408" y="2029967"/>
            <a:ext cx="224942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142E"/>
                </a:solidFill>
                <a:latin typeface="Calibri"/>
              </a:rPr>
              <a:t>Challenge 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79408" y="2432304"/>
            <a:ext cx="2249424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00"/>
              </a:lnSpc>
              <a:spcAft>
                <a:spcPts val="0"/>
              </a:spcAft>
            </a:pPr>
            <a:r>
              <a:rPr sz="1250" b="0" i="0">
                <a:solidFill>
                  <a:srgbClr val="3A4166"/>
                </a:solidFill>
                <a:latin typeface="Calibri"/>
              </a:rPr>
              <a:t>Play eight questions, send a code. They race your recorded run.</a:t>
            </a:r>
          </a:p>
          <a:p>
            <a:pPr algn="l">
              <a:lnSpc>
                <a:spcPts val="1700"/>
              </a:lnSpc>
              <a:spcAft>
                <a:spcPts val="0"/>
              </a:spcAft>
            </a:pPr>
            <a:r>
              <a:rPr sz="1250" b="0" i="0">
                <a:solidFill>
                  <a:srgbClr val="3A4166"/>
                </a:solidFill>
                <a:latin typeface="Calibri"/>
              </a:rPr>
              <a:t/>
            </a:r>
          </a:p>
          <a:p>
            <a:pPr algn="l">
              <a:lnSpc>
                <a:spcPts val="1700"/>
              </a:lnSpc>
              <a:spcAft>
                <a:spcPts val="0"/>
              </a:spcAft>
            </a:pPr>
            <a:r>
              <a:rPr sz="1250" b="0" i="0">
                <a:solidFill>
                  <a:srgbClr val="3A4166"/>
                </a:solidFill>
                <a:latin typeface="Calibri"/>
              </a:rPr>
              <a:t>No server at all. Works anywhere.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98348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0D7490"/>
                </a:solidFill>
                <a:latin typeface="Calibri"/>
              </a:rPr>
              <a:t>The first two are the same code path — that was the point of choosing plain HTTP over WebSockets.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D7490"/>
                </a:solidFill>
                <a:latin typeface="Calibri"/>
              </a:rPr>
              <a:t>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12142E"/>
                </a:solidFill>
                <a:latin typeface="Cambria"/>
              </a:rPr>
              <a:t>Every bug found by actually playing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4475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3A4166"/>
                </a:solidFill>
                <a:latin typeface="Calibri"/>
              </a:rPr>
              <a:t>The engine passed automated tests early. These only appeared with two real browsers in a real room.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10881360" cy="694944"/>
          </a:xfrm>
          <a:prstGeom prst="roundRect">
            <a:avLst>
              <a:gd name="adj" fmla="val 6000"/>
            </a:avLst>
          </a:prstGeom>
          <a:solidFill>
            <a:srgbClr val="F4F6FC"/>
          </a:solidFill>
          <a:ln w="12700">
            <a:solidFill>
              <a:srgbClr val="E4E8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2142E"/>
                </a:solidFill>
                <a:latin typeface="Calibri"/>
              </a:rPr>
              <a:t>Friend could never join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1880" y="2157984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3A4166"/>
                </a:solidFill>
                <a:latin typeface="Calibri"/>
              </a:rPr>
              <a:t>Server bound to localhost. Nothing in the UI said so — the ready button just stayed grey.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2157984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E7A52"/>
                </a:solidFill>
                <a:latin typeface="Calibri"/>
              </a:rPr>
              <a:t>Lobby detects it, prints the fix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788920"/>
            <a:ext cx="10881360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8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68680" y="297180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2142E"/>
                </a:solidFill>
                <a:latin typeface="Calibri"/>
              </a:rPr>
              <a:t>Invite link was useless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980944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3A4166"/>
                </a:solidFill>
                <a:latin typeface="Calibri"/>
              </a:rPr>
              <a:t>It embedded localhost, so on the friend's phone it pointed at their own device.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2980944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E7A52"/>
                </a:solidFill>
                <a:latin typeface="Calibri"/>
              </a:rPr>
              <a:t>Link uses the detected LAN address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611880"/>
            <a:ext cx="10881360" cy="694944"/>
          </a:xfrm>
          <a:prstGeom prst="roundRect">
            <a:avLst>
              <a:gd name="adj" fmla="val 6000"/>
            </a:avLst>
          </a:prstGeom>
          <a:solidFill>
            <a:srgbClr val="F4F6FC"/>
          </a:solidFill>
          <a:ln w="12700">
            <a:solidFill>
              <a:srgbClr val="E4E8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68680" y="379476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2142E"/>
                </a:solidFill>
                <a:latin typeface="Calibri"/>
              </a:rPr>
              <a:t>Both players shown offline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803904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3A4166"/>
                </a:solidFill>
                <a:latin typeface="Calibri"/>
              </a:rPr>
              <a:t>A reconnecting stream's old teardown overwrote the new connection's status.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3803904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E7A52"/>
                </a:solidFill>
                <a:latin typeface="Calibri"/>
              </a:rPr>
              <a:t>Connection epoch ignores stale teardowns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434840"/>
            <a:ext cx="10881360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8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461772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2142E"/>
                </a:solidFill>
                <a:latin typeface="Calibri"/>
              </a:rPr>
              <a:t>"true correct for you"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4626864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3A4166"/>
                </a:solidFill>
                <a:latin typeface="Calibri"/>
              </a:rPr>
              <a:t>A per-round boolean overwrote the running correct-answer count. One key, two meanings.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4626864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E7A52"/>
                </a:solidFill>
                <a:latin typeface="Calibri"/>
              </a:rPr>
              <a:t>Renamed the field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257800"/>
            <a:ext cx="10881360" cy="694944"/>
          </a:xfrm>
          <a:prstGeom prst="roundRect">
            <a:avLst>
              <a:gd name="adj" fmla="val 6000"/>
            </a:avLst>
          </a:prstGeom>
          <a:solidFill>
            <a:srgbClr val="F4F6FC"/>
          </a:solidFill>
          <a:ln w="12700">
            <a:solidFill>
              <a:srgbClr val="E4E8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68680" y="544068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2142E"/>
                </a:solidFill>
                <a:latin typeface="Calibri"/>
              </a:rPr>
              <a:t>Calculator said -3² = 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5449824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3A4166"/>
                </a:solidFill>
                <a:latin typeface="Calibri"/>
              </a:rPr>
              <a:t>Unary minus bound tighter than the exponent.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5449824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E7A52"/>
                </a:solidFill>
                <a:latin typeface="Calibri"/>
              </a:rPr>
              <a:t>Gave unary its own precedence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D7490"/>
                </a:solidFill>
                <a:latin typeface="Calibri"/>
              </a:rPr>
              <a:t>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12142E"/>
                </a:solidFill>
                <a:latin typeface="Cambria"/>
              </a:rPr>
              <a:t>What is in the bank today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554480"/>
          <a:ext cx="704088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138160" y="1783080"/>
            <a:ext cx="3383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600" b="1" i="0">
                <a:solidFill>
                  <a:srgbClr val="7C5CFF"/>
                </a:solidFill>
                <a:latin typeface="Cambria"/>
              </a:rPr>
              <a:t>28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2532888"/>
            <a:ext cx="3383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</a:pPr>
            <a:r>
              <a:rPr sz="1150" b="0" i="0">
                <a:solidFill>
                  <a:srgbClr val="646B88"/>
                </a:solidFill>
                <a:latin typeface="Calibri"/>
              </a:rPr>
              <a:t>math / reading &amp; writing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3108960"/>
            <a:ext cx="3383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600" b="1" i="0">
                <a:solidFill>
                  <a:srgbClr val="0D7490"/>
                </a:solidFill>
                <a:latin typeface="Cambria"/>
              </a:rPr>
              <a:t>10·24·15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3858768"/>
            <a:ext cx="3383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</a:pPr>
            <a:r>
              <a:rPr sz="1150" b="0" i="0">
                <a:solidFill>
                  <a:srgbClr val="646B88"/>
                </a:solidFill>
                <a:latin typeface="Calibri"/>
              </a:rPr>
              <a:t>easy · medium · hard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4434840"/>
            <a:ext cx="3383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600" b="1" i="0">
                <a:solidFill>
                  <a:srgbClr val="4B32B8"/>
                </a:solidFill>
                <a:latin typeface="Cambria"/>
              </a:rPr>
              <a:t>~5,700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5184648"/>
            <a:ext cx="3383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</a:pPr>
            <a:r>
              <a:rPr sz="1150" b="0" i="0">
                <a:solidFill>
                  <a:srgbClr val="646B88"/>
                </a:solidFill>
                <a:latin typeface="Calibri"/>
              </a:rPr>
              <a:t>lines of Python and JavaScript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D7490"/>
                </a:solidFill>
                <a:latin typeface="Calibri"/>
              </a:rPr>
              <a:t>ACCESSIBILITY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12142E"/>
                </a:solidFill>
                <a:latin typeface="Cambria"/>
              </a:rPr>
              <a:t>Playable by more people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5394960" cy="2011680"/>
          </a:xfrm>
          <a:prstGeom prst="roundRect">
            <a:avLst>
              <a:gd name="adj" fmla="val 9000"/>
            </a:avLst>
          </a:prstGeom>
          <a:solidFill>
            <a:srgbClr val="F4F6FC"/>
          </a:solidFill>
          <a:ln w="12700">
            <a:solidFill>
              <a:srgbClr val="E4E8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32688" y="2029967"/>
            <a:ext cx="4809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142E"/>
                </a:solidFill>
                <a:latin typeface="Calibri"/>
              </a:rPr>
              <a:t>Light and dark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432304"/>
            <a:ext cx="4809744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00"/>
              </a:lnSpc>
              <a:spcAft>
                <a:spcPts val="0"/>
              </a:spcAft>
            </a:pPr>
            <a:r>
              <a:rPr sz="1250" b="0" i="0">
                <a:solidFill>
                  <a:srgbClr val="3A4166"/>
                </a:solidFill>
                <a:latin typeface="Calibri"/>
              </a:rPr>
              <a:t>System / Light / Dark, following the OS live. Every colour is a token, so even the calculator canvas re-themes.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303520" cy="2011680"/>
          </a:xfrm>
          <a:prstGeom prst="roundRect">
            <a:avLst>
              <a:gd name="adj" fmla="val 9000"/>
            </a:avLst>
          </a:prstGeom>
          <a:solidFill>
            <a:srgbClr val="F4F6FC"/>
          </a:solidFill>
          <a:ln w="12700">
            <a:solidFill>
              <a:srgbClr val="E4E8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10528" y="2029967"/>
            <a:ext cx="47183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142E"/>
                </a:solidFill>
                <a:latin typeface="Calibri"/>
              </a:rPr>
              <a:t>Contrast, measured not guessed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0528" y="2432304"/>
            <a:ext cx="4718304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00"/>
              </a:lnSpc>
              <a:spcAft>
                <a:spcPts val="0"/>
              </a:spcAft>
            </a:pPr>
            <a:r>
              <a:rPr sz="1250" b="0" i="0">
                <a:solidFill>
                  <a:srgbClr val="3A4166"/>
                </a:solidFill>
                <a:latin typeface="Calibri"/>
              </a:rPr>
              <a:t>Every text and background pair clears WCAG AA in both themes. The audit caught a muted grey sitting at 4.3.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931920"/>
            <a:ext cx="5394960" cy="2011680"/>
          </a:xfrm>
          <a:prstGeom prst="roundRect">
            <a:avLst>
              <a:gd name="adj" fmla="val 9000"/>
            </a:avLst>
          </a:prstGeom>
          <a:solidFill>
            <a:srgbClr val="F4F6FC"/>
          </a:solidFill>
          <a:ln w="12700">
            <a:solidFill>
              <a:srgbClr val="E4E8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224528"/>
            <a:ext cx="4809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142E"/>
                </a:solidFill>
                <a:latin typeface="Calibri"/>
              </a:rPr>
              <a:t>Not colour alone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626864"/>
            <a:ext cx="4809744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00"/>
              </a:lnSpc>
              <a:spcAft>
                <a:spcPts val="0"/>
              </a:spcAft>
            </a:pPr>
            <a:r>
              <a:rPr sz="1250" b="0" i="0">
                <a:solidFill>
                  <a:srgbClr val="3A4166"/>
                </a:solidFill>
                <a:latin typeface="Calibri"/>
              </a:rPr>
              <a:t>Correct and wrong are marked with a tick and a cross, not just green and red. Visible focus rings, and a skip link.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31920"/>
            <a:ext cx="5303520" cy="2011680"/>
          </a:xfrm>
          <a:prstGeom prst="roundRect">
            <a:avLst>
              <a:gd name="adj" fmla="val 9000"/>
            </a:avLst>
          </a:prstGeom>
          <a:solidFill>
            <a:srgbClr val="F4F6FC"/>
          </a:solidFill>
          <a:ln w="12700">
            <a:solidFill>
              <a:srgbClr val="E4E8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10528" y="4224528"/>
            <a:ext cx="47183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142E"/>
                </a:solidFill>
                <a:latin typeface="Calibri"/>
              </a:rPr>
              <a:t>Announced to screen readers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4626864"/>
            <a:ext cx="4718304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00"/>
              </a:lnSpc>
              <a:spcAft>
                <a:spcPts val="0"/>
              </a:spcAft>
            </a:pPr>
            <a:r>
              <a:rPr sz="1250" b="0" i="0">
                <a:solidFill>
                  <a:srgbClr val="3A4166"/>
                </a:solidFill>
                <a:latin typeface="Calibri"/>
              </a:rPr>
              <a:t>Nothing in a duel moves focus, so round starts, who scored, and the result go to a live region.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D7490"/>
                </a:solidFill>
                <a:latin typeface="Calibri"/>
              </a:rPr>
              <a:t>TRY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12142E"/>
                </a:solidFill>
                <a:latin typeface="Cambria"/>
              </a:rPr>
              <a:t>Running a two-player test</a:t>
            </a:r>
          </a:p>
        </p:txBody>
      </p:sp>
      <p:sp>
        <p:nvSpPr>
          <p:cNvPr id="4" name="Oval 3"/>
          <p:cNvSpPr/>
          <p:nvPr/>
        </p:nvSpPr>
        <p:spPr>
          <a:xfrm>
            <a:off x="685800" y="1645920"/>
            <a:ext cx="457200" cy="457200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85800" y="175564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64208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12142E"/>
                </a:solidFill>
                <a:latin typeface="Calibri"/>
              </a:rPr>
              <a:t>Start the server with --lan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75104"/>
            <a:ext cx="100584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4166"/>
                </a:solidFill>
                <a:latin typeface="Calibri"/>
              </a:rPr>
              <a:t>python3 server.py --lan   — without the flag nobody else can reach you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468880"/>
            <a:ext cx="457200" cy="457200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257860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487168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12142E"/>
                </a:solidFill>
                <a:latin typeface="Calibri"/>
              </a:rPr>
              <a:t>Allow the macOS firewall 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798064"/>
            <a:ext cx="100584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4166"/>
                </a:solidFill>
                <a:latin typeface="Calibri"/>
              </a:rPr>
              <a:t>If you dismissed it: System Settings → Network → Firewall → Options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3291840"/>
            <a:ext cx="457200" cy="457200"/>
          </a:xfrm>
          <a:prstGeom prst="ellipse">
            <a:avLst/>
          </a:prstGeom>
          <a:solidFill>
            <a:srgbClr val="0D7490"/>
          </a:solidFill>
          <a:ln w="12700">
            <a:solidFill>
              <a:srgbClr val="0D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85800" y="340156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310128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12142E"/>
                </a:solidFill>
                <a:latin typeface="Calibri"/>
              </a:rPr>
              <a:t>Both devices on the same Wi-Fi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621024"/>
            <a:ext cx="100584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4166"/>
                </a:solidFill>
                <a:latin typeface="Calibri"/>
              </a:rPr>
              <a:t>Not one on Wi-Fi and one on cellular. The lobby prints the exact address to open.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4114800"/>
            <a:ext cx="457200" cy="457200"/>
          </a:xfrm>
          <a:prstGeom prst="ellipse">
            <a:avLst/>
          </a:prstGeom>
          <a:solidFill>
            <a:srgbClr val="0D7490"/>
          </a:solidFill>
          <a:ln w="12700">
            <a:solidFill>
              <a:srgbClr val="0D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85800" y="422452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133087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12142E"/>
                </a:solidFill>
                <a:latin typeface="Calibri"/>
              </a:rPr>
              <a:t>Open a room, send the invite link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443984"/>
            <a:ext cx="100584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4166"/>
                </a:solidFill>
                <a:latin typeface="Calibri"/>
              </a:rPr>
              <a:t>The link carries your LAN address and the room code — they tap it and land in the room.</a:t>
            </a:r>
          </a:p>
        </p:txBody>
      </p:sp>
      <p:sp>
        <p:nvSpPr>
          <p:cNvPr id="20" name="Oval 19"/>
          <p:cNvSpPr/>
          <p:nvPr/>
        </p:nvSpPr>
        <p:spPr>
          <a:xfrm>
            <a:off x="685800" y="4937760"/>
            <a:ext cx="457200" cy="457200"/>
          </a:xfrm>
          <a:prstGeom prst="ellipse">
            <a:avLst/>
          </a:prstGeom>
          <a:solidFill>
            <a:srgbClr val="0D7490"/>
          </a:solidFill>
          <a:ln w="12700">
            <a:solidFill>
              <a:srgbClr val="0D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85800" y="50474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956048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12142E"/>
                </a:solidFill>
                <a:latin typeface="Calibri"/>
              </a:rPr>
              <a:t>Both press ready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266944"/>
            <a:ext cx="100584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4166"/>
                </a:solidFill>
                <a:latin typeface="Calibri"/>
              </a:rPr>
              <a:t>Three-second countdown, then the first question hits both screens together.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897880"/>
            <a:ext cx="10881360" cy="566928"/>
          </a:xfrm>
          <a:prstGeom prst="roundRect">
            <a:avLst>
              <a:gd name="adj" fmla="val 9000"/>
            </a:avLst>
          </a:prstGeom>
          <a:solidFill>
            <a:srgbClr val="1E2246"/>
          </a:solidFill>
          <a:ln w="12700">
            <a:solidFill>
              <a:srgbClr val="1E2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6062472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ADCFC"/>
                </a:solidFill>
                <a:latin typeface="Calibri"/>
              </a:rPr>
              <a:t>If the ready button stays grey the second seat is empty — that is always a network problem, never a game bug.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554480" y="3200400"/>
            <a:ext cx="4754880" cy="4754880"/>
          </a:xfrm>
          <a:prstGeom prst="ellipse">
            <a:avLst/>
          </a:prstGeom>
          <a:solidFill>
            <a:srgbClr val="1D1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2D3EE"/>
                </a:solidFill>
                <a:latin typeface="Calibri"/>
              </a:rPr>
              <a:t>WHERE IT STANDS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Cambria"/>
              </a:rPr>
              <a:t>Playable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514600"/>
            <a:ext cx="603504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50">
                <a:solidFill>
                  <a:srgbClr val="D7DCF2"/>
                </a:solidFill>
                <a:latin typeface="Calibri"/>
              </a:rPr>
              <a:t>•   Four match formats, all verified end to end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D7DCF2"/>
                </a:solidFill>
                <a:latin typeface="Calibri"/>
              </a:rPr>
              <a:t>•   Live rooms on the local network, deploy-ready for online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D7DCF2"/>
                </a:solidFill>
                <a:latin typeface="Calibri"/>
              </a:rPr>
              <a:t>•   Challenge codes for playing asynchronously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D7DCF2"/>
                </a:solidFill>
                <a:latin typeface="Calibri"/>
              </a:rPr>
              <a:t>•   Question generation with an independent answer-key check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D7DCF2"/>
                </a:solidFill>
                <a:latin typeface="Calibri"/>
              </a:rPr>
              <a:t>•   Light and dark themes, AA contrast, screen-reader support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2377440"/>
            <a:ext cx="4114800" cy="2697480"/>
          </a:xfrm>
          <a:prstGeom prst="roundRect">
            <a:avLst>
              <a:gd name="adj" fmla="val 9000"/>
            </a:avLst>
          </a:prstGeom>
          <a:solidFill>
            <a:srgbClr val="1E2246"/>
          </a:solidFill>
          <a:ln w="12700">
            <a:solidFill>
              <a:srgbClr val="354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26679" y="2606040"/>
            <a:ext cx="3566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2D3EE"/>
                </a:solidFill>
                <a:latin typeface="Calibri"/>
              </a:rPr>
              <a:t>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3035808"/>
            <a:ext cx="35661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250">
                <a:solidFill>
                  <a:srgbClr val="B9C0E0"/>
                </a:solidFill>
                <a:latin typeface="Calibri"/>
              </a:rPr>
              <a:t>•   Importer for your own question files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B9C0E0"/>
                </a:solidFill>
                <a:latin typeface="Calibri"/>
              </a:rPr>
              <a:t>•   Generator tuned to real test phrasing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B9C0E0"/>
                </a:solidFill>
                <a:latin typeface="Calibri"/>
              </a:rPr>
              <a:t>•   Native iOS client in Swift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B9C0E0"/>
                </a:solidFill>
                <a:latin typeface="Calibri"/>
              </a:rPr>
              <a:t>•   A trial on two separate devices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1">
                <a:solidFill>
                  <a:srgbClr val="8A93BF"/>
                </a:solidFill>
                <a:latin typeface="Calibri"/>
              </a:rPr>
              <a:t>All questions are original items written for this project.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